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f8924600a44f51" /><Relationship Type="http://schemas.openxmlformats.org/officeDocument/2006/relationships/extended-properties" Target="/docProps/app.xml" Id="Rffe61d3a99cc4cbe" /><Relationship Type="http://schemas.openxmlformats.org/officeDocument/2006/relationships/officeDocument" Target="/ppt/presentation.xml" Id="Rb165954be50544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0460b50d204453"/>
  </p:sldMasterIdLst>
  <p:notesMasterIdLst>
    <p:notesMasterId xmlns:r="http://schemas.openxmlformats.org/officeDocument/2006/relationships" r:id="Rf0d66dead851400b"/>
  </p:notesMasterIdLst>
  <p:sldIdLst>
    <p:sldId xmlns:r="http://schemas.openxmlformats.org/officeDocument/2006/relationships" id="256" r:id="R253654ffeb3140b5"/>
    <p:sldId xmlns:r="http://schemas.openxmlformats.org/officeDocument/2006/relationships" id="257" r:id="Ra84f9bc0e8734103"/>
    <p:sldId xmlns:r="http://schemas.openxmlformats.org/officeDocument/2006/relationships" id="258" r:id="Rc26da42994e74cf8"/>
    <p:sldId xmlns:r="http://schemas.openxmlformats.org/officeDocument/2006/relationships" id="259" r:id="Rdce1c6bb60334f8c"/>
    <p:sldId xmlns:r="http://schemas.openxmlformats.org/officeDocument/2006/relationships" id="260" r:id="R59e5187b3a964594"/>
    <p:sldId xmlns:r="http://schemas.openxmlformats.org/officeDocument/2006/relationships" id="261" r:id="R837ca37ccec94c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c90b09cc3e481f" /><Relationship Type="http://schemas.openxmlformats.org/officeDocument/2006/relationships/slideMaster" Target="/ppt/slideMasters/slideMaster1.xml" Id="R290460b50d204453" /><Relationship Type="http://schemas.openxmlformats.org/officeDocument/2006/relationships/notesMaster" Target="/ppt/notesMasters/notesMaster1.xml" Id="Rf0d66dead851400b" /><Relationship Type="http://schemas.openxmlformats.org/officeDocument/2006/relationships/presProps" Target="/ppt/presProps.xml" Id="Rce9be5138cdd4994" /><Relationship Type="http://schemas.openxmlformats.org/officeDocument/2006/relationships/tableStyles" Target="/ppt/tableStyles.xml" Id="R0096e22962254900" /><Relationship Type="http://schemas.openxmlformats.org/officeDocument/2006/relationships/slide" Target="/ppt/slides/slide1.xml" Id="R253654ffeb3140b5" /><Relationship Type="http://schemas.openxmlformats.org/officeDocument/2006/relationships/slide" Target="/ppt/slides/slide2.xml" Id="Ra84f9bc0e8734103" /><Relationship Type="http://schemas.openxmlformats.org/officeDocument/2006/relationships/slide" Target="/ppt/slides/slide3.xml" Id="Rc26da42994e74cf8" /><Relationship Type="http://schemas.openxmlformats.org/officeDocument/2006/relationships/slide" Target="/ppt/slides/slide4.xml" Id="Rdce1c6bb60334f8c" /><Relationship Type="http://schemas.openxmlformats.org/officeDocument/2006/relationships/slide" Target="/ppt/slides/slide5.xml" Id="R59e5187b3a964594" /><Relationship Type="http://schemas.openxmlformats.org/officeDocument/2006/relationships/slide" Target="/ppt/slides/slide6.xml" Id="R837ca37ccec94c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4fa4c8670b48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7848ba5d7c48f4" /><Relationship Type="http://schemas.openxmlformats.org/officeDocument/2006/relationships/notesMaster" Target="/ppt/notesMasters/notesMaster1.xml" Id="Rcb170e92ca004b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0660bf7e984eae" /><Relationship Type="http://schemas.openxmlformats.org/officeDocument/2006/relationships/notesMaster" Target="/ppt/notesMasters/notesMaster1.xml" Id="Re084d8e1e81544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32cad76f7a4fed" /><Relationship Type="http://schemas.openxmlformats.org/officeDocument/2006/relationships/notesMaster" Target="/ppt/notesMasters/notesMaster1.xml" Id="R081cfc12cedc47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e79866d05f4e0e" /><Relationship Type="http://schemas.openxmlformats.org/officeDocument/2006/relationships/notesMaster" Target="/ppt/notesMasters/notesMaster1.xml" Id="Rb54d7bf4ff1649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c2cb6eead642f1" /><Relationship Type="http://schemas.openxmlformats.org/officeDocument/2006/relationships/notesMaster" Target="/ppt/notesMasters/notesMaster1.xml" Id="R846b54f0f2d64c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14177c13994571" /><Relationship Type="http://schemas.openxmlformats.org/officeDocument/2006/relationships/notesMaster" Target="/ppt/notesMasters/notesMaster1.xml" Id="R1ceaa9c344da4d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f2d49ab8c40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c831ab0d1a4e17" /><Relationship Type="http://schemas.openxmlformats.org/officeDocument/2006/relationships/slideLayout" Target="/ppt/slideLayouts/slideLayout1.xml" Id="R2237ab06ccee42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37ab06ccee42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159597bae43a2" /><Relationship Type="http://schemas.openxmlformats.org/officeDocument/2006/relationships/notesSlide" Target="/ppt/notesSlides/notesSlide1.xml" Id="Rf2b4933c63784d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6a735886c4554" /><Relationship Type="http://schemas.openxmlformats.org/officeDocument/2006/relationships/notesSlide" Target="/ppt/notesSlides/notesSlide2.xml" Id="R28fad191ca7d42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bfb5a1f504d90" /><Relationship Type="http://schemas.openxmlformats.org/officeDocument/2006/relationships/notesSlide" Target="/ppt/notesSlides/notesSlide3.xml" Id="Rb94e2353188d42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0471fa6ea458d" /><Relationship Type="http://schemas.openxmlformats.org/officeDocument/2006/relationships/notesSlide" Target="/ppt/notesSlides/notesSlide4.xml" Id="R884d4ad853a544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5afedf5dc459d" /><Relationship Type="http://schemas.openxmlformats.org/officeDocument/2006/relationships/notesSlide" Target="/ppt/notesSlides/notesSlide5.xml" Id="R31962bb3ead54a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6f7d674074735" /><Relationship Type="http://schemas.openxmlformats.org/officeDocument/2006/relationships/notesSlide" Target="/ppt/notesSlides/notesSlide6.xml" Id="R4a954307215940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970FB-A7E7-49BD-B4BE-B9296998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316A5-3060-45BD-9316-53FDA2E7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543F"/>
                </a:solidFill>
              </a:defRPr>
            </a:pPr>
            <a:r>
              <a:rPr sz="2550" b="1">
                <a:solidFill>
                  <a:srgbClr val="07543F"/>
                </a:solidFill>
              </a:rPr>
              <a:t>BioLens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4C874-D0E7-4483-89A8-38982C5B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572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BIO / MEDTECH DECK 初筛报告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78C2F-A0F6-4C12-96AF-BD76CA76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5BF90-5D31-4C54-856F-573FE060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31E"/>
                </a:solidFill>
              </a:defRPr>
            </a:pPr>
            <a:r>
              <a:rPr sz="3600" b="1">
                <a:solidFill>
                  <a:srgbClr val="18231E"/>
                </a:solidFill>
              </a:rPr>
              <a:t>北京水木分子生物科技有限公司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7730E-518F-41B2-B7D2-5AA088B8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067"/>
                </a:solidFill>
              </a:defRPr>
            </a:pPr>
            <a:r>
              <a:rPr sz="1500">
                <a:solidFill>
                  <a:srgbClr val="607067"/>
                </a:solidFill>
              </a:rPr>
              <a:t>TechBio · AI 制药</a:t>
            </a:r>
          </a:p>
        </p:txBody>
      </p:sp>
      <p:sp>
        <p:nvSpPr>
          <p:cNvPr id="7" name="decision-band">
            <a:extLst xmlns:a="http://schemas.openxmlformats.org/drawingml/2006/main">
              <a:ext uri="{FF2B5EF4-FFF2-40B4-BE49-F238E27FC236}">
                <a16:creationId xmlns:a16="http://schemas.microsoft.com/office/drawing/2014/main" id="{0B0828BB-A758-442D-AB71-4BE572DD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76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60E65-176C-4E1D-BDB3-5A9A1862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D6D08"/>
                </a:solidFill>
              </a:defRPr>
            </a:pPr>
            <a:r>
              <a:rPr sz="2400" b="1">
                <a:solidFill>
                  <a:srgbClr val="AD6D08"/>
                </a:solidFill>
              </a:rPr>
              <a:t>技术可核，商业暂不可投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28E96-6360-40D7-91C4-D2ABBCC0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论文和开源证明研发能力；湿实验、客户 ROI 和资本输入尚未形成闭环。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0AA7B-F953-481B-9ADB-A1B81981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67"/>
                </a:solidFill>
              </a:defRPr>
            </a:pPr>
            <a:r>
              <a:rPr sz="975">
                <a:solidFill>
                  <a:srgbClr val="607067"/>
                </a:solidFill>
              </a:rPr>
              <a:t>审计时点 2026-07-23  ·  用途：投资初筛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FC0BF-4072-44CF-8642-7FA3F9D1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960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43F"/>
                </a:solidFill>
              </a:defRPr>
            </a:pPr>
            <a:r>
              <a:rPr sz="975" b="1">
                <a:solidFill>
                  <a:srgbClr val="07543F"/>
                </a:solidFill>
              </a:rPr>
              <a:t>材料陈述 ≠ 外部事实 ≠ 分析判断</a:t>
            </a:r>
          </a:p>
        </p:txBody>
      </p:sp>
    </p:spTree>
    <p:extLst>
      <p:ext uri="{BB962C8B-B14F-4D97-AF65-F5344CB8AC3E}">
        <p14:creationId xmlns:p14="http://schemas.microsoft.com/office/powerpoint/2010/main" val="10533240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1AB38-AF63-4BD9-8AE8-8C9E1932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AEA33-C46A-4CE5-A295-8A222867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投资结论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89086-BE5C-4DAF-BC9C-7F33D869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106DE-5885-41D2-ABB4-4CE76FD9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02142-486B-4FE1-88C0-582B0955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结论由三个关键事实决定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2DBDA-3593-4057-86C8-C3CAF029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论文和开源证明研发能力；湿实验、客户 ROI 和资本输入尚未形成闭环。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7DC42-1D13-42BA-98CD-882A037B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7254"/>
                </a:solidFill>
              </a:defRPr>
            </a:pPr>
            <a:r>
              <a:rPr sz="3750" b="1">
                <a:solidFill>
                  <a:srgbClr val="0B725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00F69-D3FF-4532-A69C-EC6A9FD8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B3152-29C4-4FD8-A674-CF63B177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31E"/>
                </a:solidFill>
              </a:defRPr>
            </a:pPr>
            <a:r>
              <a:rPr sz="1725" b="1">
                <a:solidFill>
                  <a:srgbClr val="18231E"/>
                </a:solidFill>
              </a:rPr>
              <a:t>研究能力有锚点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B856F-5DCC-4E46-B041-8F364CEE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BioMedGPT、MutaPLM、PharMolixFM 可找到论文或项目记录。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B6D8D-3648-41C8-B4C7-BE52B04A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7254"/>
                </a:solidFill>
              </a:defRPr>
            </a:pPr>
            <a:r>
              <a:rPr sz="3750" b="1">
                <a:solidFill>
                  <a:srgbClr val="0B7254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828AD-9FC7-4347-9D39-15652B92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146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B989B-41F4-4761-8972-F1448BAC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81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31E"/>
                </a:solidFill>
              </a:defRPr>
            </a:pPr>
            <a:r>
              <a:rPr sz="1725" b="1">
                <a:solidFill>
                  <a:srgbClr val="18231E"/>
                </a:solidFill>
              </a:rPr>
              <a:t>转化证据断层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1B21F-E48D-4BDA-872B-697A0E77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766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缺 benchmark 到湿实验、DMTA、PCC/IND/License 的连续记录。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5D02C-AAF7-474B-BBBF-19F87524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7254"/>
                </a:solidFill>
              </a:defRPr>
            </a:pPr>
            <a:r>
              <a:rPr sz="3750" b="1">
                <a:solidFill>
                  <a:srgbClr val="0B7254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A4773-AFFF-4D30-987F-5E7D50C6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74307-F26D-432A-A6F4-6DF78216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31E"/>
                </a:solidFill>
              </a:defRPr>
            </a:pPr>
            <a:r>
              <a:rPr sz="1725" b="1">
                <a:solidFill>
                  <a:srgbClr val="18231E"/>
                </a:solidFill>
              </a:rPr>
              <a:t>商业资本缺数据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79C25-B4B8-4732-8DE7-B6D2F35D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缺合同、续约、毛利、算力成本、融资、估值和 runway。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72C477-6F4E-4A2B-9C7B-FB0BE116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43F"/>
                </a:solidFill>
              </a:defRPr>
            </a:pPr>
            <a:r>
              <a:rPr sz="1650" b="1">
                <a:solidFill>
                  <a:srgbClr val="07543F"/>
                </a:solidFill>
              </a:rPr>
              <a:t>因此，当前任务不是补充更多故事，而是验证决定投资结论的少数事实。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9F6DD-4237-4542-AB48-3A29B62F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P7–P11；BioMedGPT、MutaPLM、PharMolixFM 论文/项目记录。</a:t>
            </a:r>
          </a:p>
        </p:txBody>
      </p:sp>
    </p:spTree>
    <p:extLst>
      <p:ext uri="{BB962C8B-B14F-4D97-AF65-F5344CB8AC3E}">
        <p14:creationId xmlns:p14="http://schemas.microsoft.com/office/powerpoint/2010/main" val="11614053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B2D24D-A2DD-42EB-A7A0-8F452FEC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6422E-3C26-4027-9081-43AB3E74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证据核验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1675B-C21A-4ADE-A554-14E8378C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ECDA7-18C6-409F-8DC1-0B97780B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95E50-1B09-46D6-B9A5-B0DC5009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关键宣称必须落到可复核证据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B849C-95D8-4AD2-B341-4FFABA5C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只展示会改变投资判断的三项宣称。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6A9DF-EBE9-428B-B855-667245CC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宣称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A356C-9BA6-43A7-BE26-5CF4C61B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24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BE249-BA3D-4B33-9DD5-F5E952AC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BF540-6C2B-46ED-AF3F-7F595AE7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40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投资含义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D6195-9736-4B66-95DD-D6A00506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B672D-73EB-4D7A-B6FE-B121CD7E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具备多模态生命科学模型研发能力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713C5-4B24-4B48-80BC-58ED1453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0E5ED-E2D8-46FB-8176-AE21C047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5F9D"/>
                </a:solidFill>
              </a:defRPr>
            </a:pPr>
            <a:r>
              <a:rPr sz="1125" b="1">
                <a:solidFill>
                  <a:srgbClr val="2E5F9D"/>
                </a:solidFill>
              </a:rPr>
              <a:t>部分支持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47453-F385-43CE-8FC3-9B80E960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003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论文与 OpenBioMed 开源项目可核实。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1FAA4-1162-44AA-B172-8D1C9973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31E"/>
                </a:solidFill>
              </a:defRPr>
            </a:pPr>
            <a:r>
              <a:rPr sz="1275" b="1">
                <a:solidFill>
                  <a:srgbClr val="18231E"/>
                </a:solidFill>
              </a:rPr>
              <a:t>支持团队能力，不自动证明商业产品效果。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AA0AA-E67B-46B6-97A7-FFB2FF36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BD9A1-0F53-4D90-9883-76FA3D4B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模型指标领先、单次生成成功率 58.1%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932FC-E9FE-44E3-AFA0-1945F876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623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4584A-60AB-4669-9B43-D16CB83C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195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D6D08"/>
                </a:solidFill>
              </a:defRPr>
            </a:pPr>
            <a:r>
              <a:rPr sz="1125" b="1">
                <a:solidFill>
                  <a:srgbClr val="AD6D08"/>
                </a:solidFill>
              </a:rPr>
              <a:t>需澄清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9D5E5-9A37-444B-8A8D-1FD0EAE2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433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部分高强度指标未在已核论文中找到同一定义。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0E749B-560C-44B2-9500-211E3246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433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31E"/>
                </a:solidFill>
              </a:defRPr>
            </a:pPr>
            <a:r>
              <a:rPr sz="1275" b="1">
                <a:solidFill>
                  <a:srgbClr val="18231E"/>
                </a:solidFill>
              </a:rPr>
              <a:t>需给出任务、数据集、基线、去污染和复现。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F1133-8E6F-46FB-B579-B3670D2A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A5EC0A-A005-4507-8DDF-974257B8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服务 30+ 头部药企客户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5AB671-1711-4CF9-8A45-06390030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053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69737-1385-4977-A89B-B24FA8D1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625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D6D08"/>
                </a:solidFill>
              </a:defRPr>
            </a:pPr>
            <a:r>
              <a:rPr sz="1125" b="1">
                <a:solidFill>
                  <a:srgbClr val="AD6D08"/>
                </a:solidFill>
              </a:rPr>
              <a:t>需验证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79AFA4-1057-4545-B4ED-8420F7F3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863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未提供付费、收入、续约、使用量和客户 ROI。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3B784F-AE8E-487A-95A8-8BA52453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863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31E"/>
                </a:solidFill>
              </a:defRPr>
            </a:pPr>
            <a:r>
              <a:rPr sz="1275" b="1">
                <a:solidFill>
                  <a:srgbClr val="18231E"/>
                </a:solidFill>
              </a:rPr>
              <a:t>客户 logo 和合作数量不能替代商业质量。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5C1197-7A9A-4102-8308-468B6F6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P7–P11；BioMedGPT、MutaPLM、PharMolixFM 论文/项目记录。</a:t>
            </a:r>
          </a:p>
        </p:txBody>
      </p:sp>
    </p:spTree>
    <p:extLst>
      <p:ext uri="{BB962C8B-B14F-4D97-AF65-F5344CB8AC3E}">
        <p14:creationId xmlns:p14="http://schemas.microsoft.com/office/powerpoint/2010/main" val="1092116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8EFDE-A2A4-4AA3-A124-D5595490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09726-8536-4CC1-AC3B-C612704E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市场与商业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8C8E4-3642-4E2C-A76C-0DD2F91F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A157F-C155-475F-AF9F-0B2E9273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2AEF3-4DA0-4005-BC39-B84A940F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从模型能力到客户价值的证据链仍未闭合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B5475-6C20-446F-B90A-11A49204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7543F"/>
                </a:solidFill>
              </a:defRPr>
            </a:pPr>
            <a:r>
              <a:rPr sz="3600" b="1">
                <a:solidFill>
                  <a:srgbClr val="07543F"/>
                </a:solidFill>
              </a:rPr>
              <a:t>30+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47E72-65B2-4379-B0C9-8B4D5F4F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Deck：头部药企客户/合作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1A58B-6457-4C7B-B113-FC435995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067"/>
                </a:solidFill>
              </a:defRPr>
            </a:pPr>
            <a:r>
              <a:rPr sz="1200">
                <a:solidFill>
                  <a:srgbClr val="607067"/>
                </a:solidFill>
              </a:rPr>
              <a:t>需拆分科研合作、试点、付费、续约和扩单。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4EA86-EA33-4874-BB75-B32B9140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7543F"/>
                </a:solidFill>
              </a:defRPr>
            </a:pPr>
            <a:r>
              <a:rPr sz="3600" b="1">
                <a:solidFill>
                  <a:srgbClr val="07543F"/>
                </a:solidFill>
              </a:rPr>
              <a:t>5 类模态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07CCC-E41B-4608-B514-F3A6FCEA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文本、视觉、分子、蛋白、单细胞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9CD75-4CC4-40E7-B9E0-5097CB0A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067"/>
                </a:solidFill>
              </a:defRPr>
            </a:pPr>
            <a:r>
              <a:rPr sz="1200">
                <a:solidFill>
                  <a:srgbClr val="607067"/>
                </a:solidFill>
              </a:rPr>
              <a:t>每类需分别给出线上质量、成本和使用量。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DB0CE-FFD7-4D0C-83D1-E72B47F0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8120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CE46B-BB9B-440B-BFC3-B648D835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4439"/>
                </a:solidFill>
              </a:defRPr>
            </a:pPr>
            <a:r>
              <a:rPr sz="1500" b="1">
                <a:solidFill>
                  <a:srgbClr val="A84439"/>
                </a:solidFill>
              </a:rPr>
              <a:t>当前风险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4A850-0388-4353-A0B1-DE850C75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336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4846E-CBF6-4028-89B0-696EFB0C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336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1E"/>
                </a:solidFill>
              </a:defRPr>
            </a:pPr>
            <a:r>
              <a:rPr sz="1275">
                <a:solidFill>
                  <a:srgbClr val="18231E"/>
                </a:solidFill>
              </a:rPr>
              <a:t>开源提升影响力，但弱化纯模型层排他性。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1B690-3E34-481E-A020-32623707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F5B31-A0C3-4152-BF09-BD2A8476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575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1E"/>
                </a:solidFill>
              </a:defRPr>
            </a:pPr>
            <a:r>
              <a:rPr sz="1275">
                <a:solidFill>
                  <a:srgbClr val="18231E"/>
                </a:solidFill>
              </a:rPr>
              <a:t>智能体缺端到端成功率、引用质量和人工修改时间。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4E4B9-2E56-48C1-91AA-B31F938B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81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A6B3F-58EE-4543-B540-EA291E04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814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1E"/>
                </a:solidFill>
              </a:defRPr>
            </a:pPr>
            <a:r>
              <a:rPr sz="1275">
                <a:solidFill>
                  <a:srgbClr val="18231E"/>
                </a:solidFill>
              </a:rPr>
              <a:t>客户私有数据带来授权、隔离和训练使用权风险。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A0D048-162F-4E1D-9001-7C00FF87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85FD3-EC90-4C5F-A83F-3A1B9999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1033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543F"/>
                </a:solidFill>
              </a:defRPr>
            </a:pPr>
            <a:r>
              <a:rPr sz="1425" b="1">
                <a:solidFill>
                  <a:srgbClr val="07543F"/>
                </a:solidFill>
              </a:rPr>
              <a:t>判断原则：客户数量必须拆成试点、合同、验收、回款、活跃和续约；市场规模必须回到可服务产品边界。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4C907-4A2E-48A4-8AB2-DBF991F7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P7–P11；BioMedGPT、MutaPLM、PharMolixFM 论文/项目记录。</a:t>
            </a:r>
          </a:p>
        </p:txBody>
      </p:sp>
    </p:spTree>
    <p:extLst>
      <p:ext uri="{BB962C8B-B14F-4D97-AF65-F5344CB8AC3E}">
        <p14:creationId xmlns:p14="http://schemas.microsoft.com/office/powerpoint/2010/main" val="864400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0F991-0ADC-452E-9057-B1EE11A0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6FF1B-0FA8-4EFA-BD32-F1CC710C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资本回报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8569C-8A08-4981-905C-A3EA9917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C9446-0DBC-494A-955F-F68AB7C8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3F5EF-84C1-41F4-A756-1C8DA4B4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资本回报输入基本缺失，无法形成估值区间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B34CB-C67A-4B15-B527-568206DB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54"/>
                </a:solidFill>
              </a:defRPr>
            </a:pPr>
            <a:r>
              <a:rPr sz="1350" b="1">
                <a:solidFill>
                  <a:srgbClr val="0B7254"/>
                </a:solidFill>
              </a:rPr>
              <a:t>已知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18802-D915-4658-96EC-CCCD399F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31E"/>
                </a:solidFill>
              </a:defRPr>
            </a:pPr>
            <a:r>
              <a:rPr sz="1425">
                <a:solidFill>
                  <a:srgbClr val="18231E"/>
                </a:solidFill>
              </a:rPr>
              <a:t>• Deck 展示模型、智能体和自研管线方向。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C7B06-5D21-4C63-AA10-948BE98A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31E"/>
                </a:solidFill>
              </a:defRPr>
            </a:pPr>
            <a:r>
              <a:rPr sz="1425">
                <a:solidFill>
                  <a:srgbClr val="18231E"/>
                </a:solidFill>
              </a:rPr>
              <a:t>• 论文与开源记录支持部分技术资产存在。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8127E-FD70-4991-8968-C8A283AF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15B96-B7E4-4BD4-B2E5-B7A503F5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84439"/>
                </a:solidFill>
              </a:defRPr>
            </a:pPr>
            <a:r>
              <a:rPr sz="1350" b="1">
                <a:solidFill>
                  <a:srgbClr val="A84439"/>
                </a:solidFill>
              </a:rPr>
              <a:t>缺失输入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69846-1D4E-4DDA-92C2-2C77BFED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1. 融资金额、估值、cap table 与资金用途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595E1-DFF8-4D9F-A5BF-24F1A6D3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2. 收入、毛利、续约、交付人力与算力成本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62EF7-1394-41E6-AD34-0CFD89FB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3. 自研管线权利、阶段、预算和里程碑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7B1D5-967A-4AE4-B129-E9A6069B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4. 现金、burn、runway 和退出路径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05D3B-BCBE-4F5D-9159-6416CD0B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E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0F0E4-6B1D-469A-A02B-9A582EDC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4439"/>
                </a:solidFill>
              </a:defRPr>
            </a:pPr>
            <a:r>
              <a:rPr sz="1500" b="1">
                <a:solidFill>
                  <a:srgbClr val="A84439"/>
                </a:solidFill>
              </a:rPr>
              <a:t>缺失输入未补齐前，不输出伪精确估值或基金回报倍数。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1AC3B-B753-412C-A3A1-1842DDFF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P7–P11；BioMedGPT、MutaPLM、PharMolixFM 论文/项目记录。</a:t>
            </a:r>
          </a:p>
        </p:txBody>
      </p:sp>
    </p:spTree>
    <p:extLst>
      <p:ext uri="{BB962C8B-B14F-4D97-AF65-F5344CB8AC3E}">
        <p14:creationId xmlns:p14="http://schemas.microsoft.com/office/powerpoint/2010/main" val="1434868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25144-F8C4-4A5F-A5F9-6EEB384D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AF0FB-7DD5-490B-A017-8146E67A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7C927-B67D-4318-BFD3-133FB1B7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37859-C8F1-49C0-B3BD-B753E818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50301-E22B-4B6E-9E3C-EE2FD5ED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下一轮只验证五件事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69178-E47C-436A-8967-49EEEB10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材料到位后再更新结论，不用继续扩展叙事。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194DD-8CCA-41A0-8188-CBE551B4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958A9-C6E2-4900-9A56-07511310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benchmark 协议、数据拆分、基线和去污染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E63C9-3BF7-4F66-BC65-85B155FA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860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D336A-D2CC-4EF9-8816-14D4720B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E6382-4429-493C-90B9-14CAC51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2–3 个 prospective 湿实验和 DMTA 完整记录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6CB6C-BA0C-4D15-9B07-2F6E062F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60E68-3EF3-4988-9D39-AE4405F2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D3EC4-E075-4693-BF46-AFC205A5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客户付费、ARR、续约、扩单、使用量和 ROI cohort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4C2B5-AC44-41A5-98FF-BF3AFD4D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814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9BDD0-22FF-42AC-9CBD-B99DB174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0EE32-D7B0-4362-BC0C-DB40CC6A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智能体成功率、引用质量、失败案例和人工审批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AB73E-2958-4247-8ECD-5337C4A4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FD8E8-1320-44CB-AA7A-DB937870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E4EF3-CCD4-4CDE-84F1-8B162AB0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数据许可、开源合规、管线权利、融资和 runway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64117-D3E1-4172-B26E-30692477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768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32EBCA-F6EC-474A-9C2E-78572FE6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75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291D6A-CF4D-486F-B392-38B1DC4D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040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决策门槛｜prospective 湿实验产生明确 uplift + 至少两个付费客户验证 ROI + 单位经济性成立后，再进入资本回报分析。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8D2908-E6D7-4C9B-967F-162E3CCB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P7–P11；BioMedGPT、MutaPLM、PharMolixFM 论文/项目记录。</a:t>
            </a:r>
          </a:p>
        </p:txBody>
      </p:sp>
    </p:spTree>
    <p:extLst>
      <p:ext uri="{BB962C8B-B14F-4D97-AF65-F5344CB8AC3E}">
        <p14:creationId xmlns:p14="http://schemas.microsoft.com/office/powerpoint/2010/main" val="353597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2026-07-23T14:13:47.8600000Z</dcterms:created>
  <dcterms:modified xsi:type="dcterms:W3CDTF">2026-07-23T14:13:47.8600000Z</dcterms:modified>
</coreProperties>
</file>