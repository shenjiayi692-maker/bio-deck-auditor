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7b9ae64d0e4ca1" /><Relationship Type="http://schemas.openxmlformats.org/officeDocument/2006/relationships/extended-properties" Target="/docProps/app.xml" Id="R25f6626e56d74e63" /><Relationship Type="http://schemas.openxmlformats.org/officeDocument/2006/relationships/officeDocument" Target="/ppt/presentation.xml" Id="R497a089e9cab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383a30bd740d8"/>
  </p:sldMasterIdLst>
  <p:notesMasterIdLst>
    <p:notesMasterId xmlns:r="http://schemas.openxmlformats.org/officeDocument/2006/relationships" r:id="R91e66d1e835b48b5"/>
  </p:notesMasterIdLst>
  <p:sldIdLst>
    <p:sldId xmlns:r="http://schemas.openxmlformats.org/officeDocument/2006/relationships" id="256" r:id="Rcdb9cb7e53a241dc"/>
    <p:sldId xmlns:r="http://schemas.openxmlformats.org/officeDocument/2006/relationships" id="257" r:id="Re1fe4861528d4959"/>
    <p:sldId xmlns:r="http://schemas.openxmlformats.org/officeDocument/2006/relationships" id="258" r:id="Ra6f756d8fa5144c3"/>
    <p:sldId xmlns:r="http://schemas.openxmlformats.org/officeDocument/2006/relationships" id="259" r:id="R21316f829fc54888"/>
    <p:sldId xmlns:r="http://schemas.openxmlformats.org/officeDocument/2006/relationships" id="260" r:id="R812a8214b6b14f31"/>
    <p:sldId xmlns:r="http://schemas.openxmlformats.org/officeDocument/2006/relationships" id="261" r:id="Rb76381419c2547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5038d8b414108" /><Relationship Type="http://schemas.openxmlformats.org/officeDocument/2006/relationships/slideMaster" Target="/ppt/slideMasters/slideMaster1.xml" Id="Rc7c383a30bd740d8" /><Relationship Type="http://schemas.openxmlformats.org/officeDocument/2006/relationships/notesMaster" Target="/ppt/notesMasters/notesMaster1.xml" Id="R91e66d1e835b48b5" /><Relationship Type="http://schemas.openxmlformats.org/officeDocument/2006/relationships/presProps" Target="/ppt/presProps.xml" Id="R10fd31acf45b4b73" /><Relationship Type="http://schemas.openxmlformats.org/officeDocument/2006/relationships/tableStyles" Target="/ppt/tableStyles.xml" Id="Ra62d16a2c3534699" /><Relationship Type="http://schemas.openxmlformats.org/officeDocument/2006/relationships/slide" Target="/ppt/slides/slide1.xml" Id="Rcdb9cb7e53a241dc" /><Relationship Type="http://schemas.openxmlformats.org/officeDocument/2006/relationships/slide" Target="/ppt/slides/slide2.xml" Id="Re1fe4861528d4959" /><Relationship Type="http://schemas.openxmlformats.org/officeDocument/2006/relationships/slide" Target="/ppt/slides/slide3.xml" Id="Ra6f756d8fa5144c3" /><Relationship Type="http://schemas.openxmlformats.org/officeDocument/2006/relationships/slide" Target="/ppt/slides/slide4.xml" Id="R21316f829fc54888" /><Relationship Type="http://schemas.openxmlformats.org/officeDocument/2006/relationships/slide" Target="/ppt/slides/slide5.xml" Id="R812a8214b6b14f31" /><Relationship Type="http://schemas.openxmlformats.org/officeDocument/2006/relationships/slide" Target="/ppt/slides/slide6.xml" Id="Rb76381419c25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de401eac51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6710c0dcc4f73" /><Relationship Type="http://schemas.openxmlformats.org/officeDocument/2006/relationships/notesMaster" Target="/ppt/notesMasters/notesMaster1.xml" Id="R35198f3eb5b4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728f883304752" /><Relationship Type="http://schemas.openxmlformats.org/officeDocument/2006/relationships/notesMaster" Target="/ppt/notesMasters/notesMaster1.xml" Id="R9527ee8d509a49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8a739a03a4915" /><Relationship Type="http://schemas.openxmlformats.org/officeDocument/2006/relationships/notesMaster" Target="/ppt/notesMasters/notesMaster1.xml" Id="Rf20dfe107789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14255516d14acb" /><Relationship Type="http://schemas.openxmlformats.org/officeDocument/2006/relationships/notesMaster" Target="/ppt/notesMasters/notesMaster1.xml" Id="Rf82d678f7c4a46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85fdee7c5540a1" /><Relationship Type="http://schemas.openxmlformats.org/officeDocument/2006/relationships/notesMaster" Target="/ppt/notesMasters/notesMaster1.xml" Id="R0a3310ce821846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d91fb2b1a4378" /><Relationship Type="http://schemas.openxmlformats.org/officeDocument/2006/relationships/notesMaster" Target="/ppt/notesMasters/notesMaster1.xml" Id="R2f8ef8190f9b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ac25e7e1b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39e1f58c6d4815" /><Relationship Type="http://schemas.openxmlformats.org/officeDocument/2006/relationships/slideLayout" Target="/ppt/slideLayouts/slideLayout1.xml" Id="Rd347219d2125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7219d2125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fbd324dfe45aa" /><Relationship Type="http://schemas.openxmlformats.org/officeDocument/2006/relationships/notesSlide" Target="/ppt/notesSlides/notesSlide1.xml" Id="R329d44a3ba07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835ba2844439f" /><Relationship Type="http://schemas.openxmlformats.org/officeDocument/2006/relationships/notesSlide" Target="/ppt/notesSlides/notesSlide2.xml" Id="R5a992146216946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014dba84b4aa9" /><Relationship Type="http://schemas.openxmlformats.org/officeDocument/2006/relationships/notesSlide" Target="/ppt/notesSlides/notesSlide3.xml" Id="R614a9d284eff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707c7fe2242c3" /><Relationship Type="http://schemas.openxmlformats.org/officeDocument/2006/relationships/notesSlide" Target="/ppt/notesSlides/notesSlide4.xml" Id="Rb3775af96d6449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6beafc61e4a07" /><Relationship Type="http://schemas.openxmlformats.org/officeDocument/2006/relationships/notesSlide" Target="/ppt/notesSlides/notesSlide5.xml" Id="R89a45f8a8e1e4c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c86cabf024328" /><Relationship Type="http://schemas.openxmlformats.org/officeDocument/2006/relationships/notesSlide" Target="/ppt/notesSlides/notesSlide6.xml" Id="Reec9ecaa8c5d46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ECF29-AE8F-4DC9-99EA-6A02DAA8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E31B6-4CA7-44E1-9DB5-2C5DFBE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543F"/>
                </a:solidFill>
              </a:defRPr>
            </a:pPr>
            <a:r>
              <a:rPr sz="2550" b="1">
                <a:solidFill>
                  <a:srgbClr val="07543F"/>
                </a:solidFill>
              </a:rPr>
              <a:t>BioLens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A2B94-96BE-457D-9597-BA4F3326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72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BIO / MEDTECH DECK 初筛报告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98C22-DF69-46FC-B2C2-4AB6C567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F5CA3-F594-49FF-AEFA-E6C917B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1E"/>
                </a:solidFill>
              </a:defRPr>
            </a:pPr>
            <a:r>
              <a:rPr sz="3600" b="1">
                <a:solidFill>
                  <a:srgbClr val="18231E"/>
                </a:solidFill>
              </a:rPr>
              <a:t>安徽视美智能科技有限公司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93A56-2E2D-4360-B26B-DC2DB673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067"/>
                </a:solidFill>
              </a:defRPr>
            </a:pPr>
            <a:r>
              <a:rPr sz="1500">
                <a:solidFill>
                  <a:srgbClr val="607067"/>
                </a:solidFill>
              </a:rPr>
              <a:t>医疗 AI · 肌骨超声</a:t>
            </a:r>
          </a:p>
        </p:txBody>
      </p:sp>
      <p:sp>
        <p:nvSpPr>
          <p:cNvPr id="7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6DBDD51E-89B7-4B1D-B3C1-CD0462FC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6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01E9-0B61-45A5-8F35-6FB32CE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84439"/>
                </a:solidFill>
              </a:defRPr>
            </a:pPr>
            <a:r>
              <a:rPr sz="2400" b="1">
                <a:solidFill>
                  <a:srgbClr val="A84439"/>
                </a:solidFill>
              </a:rPr>
              <a:t>暂缓形成投资判断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28F49-4A2B-4E3B-BB22-0305C3D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先证明融资主体实际拥有证照、IP 和收入，再讨论技术与估值。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5F4FA-6D18-4A86-85BF-7951F94B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67"/>
                </a:solidFill>
              </a:defRPr>
            </a:pPr>
            <a:r>
              <a:rPr sz="975">
                <a:solidFill>
                  <a:srgbClr val="607067"/>
                </a:solidFill>
              </a:rPr>
              <a:t>审计时点 2026-07-23  ·  用途：投资初筛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9BA9D-2CFC-43C1-A5CB-20559A1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43F"/>
                </a:solidFill>
              </a:defRPr>
            </a:pPr>
            <a:r>
              <a:rPr sz="975" b="1">
                <a:solidFill>
                  <a:srgbClr val="07543F"/>
                </a:solidFill>
              </a:rPr>
              <a:t>材料陈述 ≠ 外部事实 ≠ 分析判断</a:t>
            </a:r>
          </a:p>
        </p:txBody>
      </p:sp>
    </p:spTree>
    <p:extLst>
      <p:ext uri="{BB962C8B-B14F-4D97-AF65-F5344CB8AC3E}">
        <p14:creationId xmlns:p14="http://schemas.microsoft.com/office/powerpoint/2010/main" val="1077693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FD1A3-CC31-4F36-959C-D4CDC06D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C99AA-E932-467B-B3BD-4AAB6B55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投资结论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47A8B-2AC7-4F3A-8C33-5FCEB7ED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FB2F3-4B62-4D47-A098-D1CFCC5E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70DD5-C981-4460-9CB0-BF489CC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结论由三个关键事实决定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29708-D6B0-4493-B9EA-440D195E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先证明融资主体实际拥有证照、IP 和收入，再讨论技术与估值。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87252-6AAB-468C-BEC7-D39A51B2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7B42E-98C7-480D-A5DD-74E8C8F9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21712-3E5C-4C93-80B0-200FB84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主体边界不清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D969C-7C7F-4D3A-A36E-BA5C1DAB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安徽融资主体、北京品牌主体、证书/IP 和历史收入尚未对齐。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908B7-CCB0-4BE5-8A6D-44F63FA6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2786-2E82-4E5E-81C9-47888434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9A895-2C5C-4067-A666-5EEA11C4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技术证据不足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69508-FBC5-400D-9CB7-4549899C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缺样本量、外部测试集、金标准、统计区间和失败案例。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73297-0250-428C-B7AF-F01AA63A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71F5-9497-4CA1-8882-10D0880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C2148-0936-4ED0-ACB6-F8F6E33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资本输入缺失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E8843-D7E1-49C1-AAEF-A7923CA2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无本轮条款、cap table、现金、burn、runway 和退出假设。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0919D-A220-4D39-9C6E-CABC4D00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3F"/>
                </a:solidFill>
              </a:defRPr>
            </a:pPr>
            <a:r>
              <a:rPr sz="1650" b="1">
                <a:solidFill>
                  <a:srgbClr val="07543F"/>
                </a:solidFill>
              </a:rPr>
              <a:t>因此，当前任务不是补充更多故事，而是验证决定投资结论的少数事实。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A07AB-2A54-4058-B502-534A1CF5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P4、P19–P25；安徽公开报道；基金公告。审计时点 2026-07-23。</a:t>
            </a:r>
          </a:p>
        </p:txBody>
      </p:sp>
    </p:spTree>
    <p:extLst>
      <p:ext uri="{BB962C8B-B14F-4D97-AF65-F5344CB8AC3E}">
        <p14:creationId xmlns:p14="http://schemas.microsoft.com/office/powerpoint/2010/main" val="1462879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08446-B4C7-4ED7-AA96-90E91C3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8E0D6-16A8-4B58-BFC0-5276EBC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证据核验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236F6-9633-4D3A-AC2E-CA349BD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187C7-8C20-4060-8A49-2B5EFBD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CCDB8-8F0B-4417-AB9B-4DF183CC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关键宣称必须落到可复核证据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B6FAF-A173-4211-8645-85CE117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只展示会改变投资判断的三项宣称。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9AE38-64B2-43B8-BF59-591EC85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宣称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C83D4-4FB7-4A27-95AF-C862313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24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541D2-37C6-4A17-80FD-3E13EB71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ECDFA-7F13-4BDA-89C9-6CFD52A3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投资含义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D9D2-5C84-4712-83EE-7E7B07ED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BBA4A-8BB6-48E6-99F8-C4B85049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产品解决肌骨超声的操作者依赖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1E617-69D3-4C4F-9F04-A59A88DB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A8561-89F6-46A6-BBBB-D262037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5F9D"/>
                </a:solidFill>
              </a:defRPr>
            </a:pPr>
            <a:r>
              <a:rPr sz="1125" b="1">
                <a:solidFill>
                  <a:srgbClr val="2E5F9D"/>
                </a:solidFill>
              </a:rPr>
              <a:t>部分支持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E35E9-EB0E-4A98-B7A1-0846E3D7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临床问题具有合理性；deck 未给出量化基线和外部研究。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939E9-BDF2-4B49-9E30-CD2E396F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可确认需求方向，不能确认产品效果。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E90A6-1DE0-4520-8E07-31E9864A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B42FC-F95E-4C87-8C2C-F2BFE6E4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“智影”取得二类注册证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FCC28-6AA3-4C06-B624-71409A6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DF649-7484-460F-8DAE-51E51C9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19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D6D08"/>
                </a:solidFill>
              </a:defRPr>
            </a:pPr>
            <a:r>
              <a:rPr sz="1125" b="1">
                <a:solidFill>
                  <a:srgbClr val="AD6D08"/>
                </a:solidFill>
              </a:rPr>
              <a:t>需澄清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9D740-3BA1-4040-AA43-640B3290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未提供证号、注册人、型号、软件版本和预期用途。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22184-1BC6-4942-8543-0D5C024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43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不能将一张证外推到全部应用场景。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6B6F1-7534-4855-82B9-693097B9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EA612-47FD-4F1A-8F19-23137FAC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收入和机构覆盖快速增长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AA6CD-C5C1-494B-881B-0556D89B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05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5A001-299C-4A31-8EDF-0D9EF2CF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D6D08"/>
                </a:solidFill>
              </a:defRPr>
            </a:pPr>
            <a:r>
              <a:rPr sz="1125" b="1">
                <a:solidFill>
                  <a:srgbClr val="AD6D08"/>
                </a:solidFill>
              </a:rPr>
              <a:t>需验证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0B0C7-128C-4168-B538-FA4179B7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2026 目标收入 5,200 万元、覆盖 500 家机构。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622E54-B835-41BD-BB2A-405B0C7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需拆分试用、签约、验收、回款、活跃和复购。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1043F-8BD1-478D-8DCC-4355354B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P4、P19–P25；安徽公开报道；基金公告。审计时点 2026-07-23。</a:t>
            </a:r>
          </a:p>
        </p:txBody>
      </p:sp>
    </p:spTree>
    <p:extLst>
      <p:ext uri="{BB962C8B-B14F-4D97-AF65-F5344CB8AC3E}">
        <p14:creationId xmlns:p14="http://schemas.microsoft.com/office/powerpoint/2010/main" val="24667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4B45D-ADDC-4580-88DA-A13900C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8499C-2E81-4CEF-B9AC-500C3693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市场与商业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83AC-AA0F-4555-90BD-CED6825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60D1A-CA61-48C5-BDE9-2311D2D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B192F-CA16-44F2-B5F7-212EB64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商业化数字有验证入口，但客户质量仍未知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6A1B1-912F-4661-8BEA-0BB1CF2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543F"/>
                </a:solidFill>
              </a:defRPr>
            </a:pPr>
            <a:r>
              <a:rPr sz="3600" b="1">
                <a:solidFill>
                  <a:srgbClr val="07543F"/>
                </a:solidFill>
              </a:rPr>
              <a:t>10.4 万元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9A300-D4E6-49C3-BE8E-7D23472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2026 目标收入 ÷ 500 家机构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3E2FC-7322-4549-9D19-8E9DC195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67"/>
                </a:solidFill>
              </a:defRPr>
            </a:pPr>
            <a:r>
              <a:rPr sz="1200">
                <a:solidFill>
                  <a:srgbClr val="607067"/>
                </a:solidFill>
              </a:rPr>
              <a:t>与 deck 的 5–22 万元定价区间不冲突。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FCDA9-8BAF-4B61-A3D7-E81B9A2E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543F"/>
                </a:solidFill>
              </a:defRPr>
            </a:pPr>
            <a:r>
              <a:rPr sz="3600" b="1">
                <a:solidFill>
                  <a:srgbClr val="07543F"/>
                </a:solidFill>
              </a:rPr>
              <a:t>多场景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65DBA-5A11-4924-80E5-C054BE1F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肌骨、穿刺、麻醉、医美等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B35E8-CA7F-4828-A94C-0A60E00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67"/>
                </a:solidFill>
              </a:defRPr>
            </a:pPr>
            <a:r>
              <a:rPr sz="1200">
                <a:solidFill>
                  <a:srgbClr val="607067"/>
                </a:solidFill>
              </a:rPr>
              <a:t>每个产品和预期用途必须分别核验证书。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8DF12-9C7B-4CA3-9F75-6AC17547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FE445-A209-47AF-B8DA-4ED176D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439"/>
                </a:solidFill>
              </a:defRPr>
            </a:pPr>
            <a:r>
              <a:rPr sz="1500" b="1">
                <a:solidFill>
                  <a:srgbClr val="A84439"/>
                </a:solidFill>
              </a:rPr>
              <a:t>当前风险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DF4CE-CE63-4D55-828E-A5FC37C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9E6C2-E07D-4A4E-8159-D2E8C4EE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广义超声 AI TAM 不能直接作为肌骨 AI 的 SAM。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28A8A-03A1-47EF-9CEB-282A90C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9FD85-898C-40B5-9D5B-B1A3548D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机构“覆盖”不等于付费、活跃和续约。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03C38-D089-4B37-8E80-08A46CDC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8EFC8-E57C-4E25-B0DE-AB10242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814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历史收入是否属于融资主体尚未证明。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8690E-6CBC-4B32-83A4-6DFA4394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C646E-30AF-4A68-BD25-C2270E8D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33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43F"/>
                </a:solidFill>
              </a:defRPr>
            </a:pPr>
            <a:r>
              <a:rPr sz="1425" b="1">
                <a:solidFill>
                  <a:srgbClr val="07543F"/>
                </a:solidFill>
              </a:rPr>
              <a:t>判断原则：客户数量必须拆成试点、合同、验收、回款、活跃和续约；市场规模必须回到可服务产品边界。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EDDAE-14AE-4A2C-A6D8-8D23ADF8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P4、P19–P25；安徽公开报道；基金公告。审计时点 2026-07-23。</a:t>
            </a:r>
          </a:p>
        </p:txBody>
      </p:sp>
    </p:spTree>
    <p:extLst>
      <p:ext uri="{BB962C8B-B14F-4D97-AF65-F5344CB8AC3E}">
        <p14:creationId xmlns:p14="http://schemas.microsoft.com/office/powerpoint/2010/main" val="1764641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8850B-F504-4F9A-B8F2-E2779F5B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35B34-674F-47B3-8CB0-7CB1680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资本回报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D5C34-9ACD-4462-9649-FF203213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08FDC-0AFF-41B9-A7D6-78E39ED4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8D433-9F76-464C-A100-0A52D2C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主体与资产未穿透，估值讨论没有可靠起点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4F4D6-3A7F-445B-BA7F-CE692DE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54"/>
                </a:solidFill>
              </a:defRPr>
            </a:pPr>
            <a:r>
              <a:rPr sz="1350" b="1">
                <a:solidFill>
                  <a:srgbClr val="0B7254"/>
                </a:solidFill>
              </a:rPr>
              <a:t>已知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0800A-86D7-431F-9BB4-30D054D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31E"/>
                </a:solidFill>
              </a:defRPr>
            </a:pPr>
            <a:r>
              <a:rPr sz="1425">
                <a:solidFill>
                  <a:srgbClr val="18231E"/>
                </a:solidFill>
              </a:rPr>
              <a:t>• Deck 陈述累计融资超过 6,000 万元。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83AFF-0810-4294-8547-A2F06AD5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31E"/>
                </a:solidFill>
              </a:defRPr>
            </a:pPr>
            <a:r>
              <a:rPr sz="1425">
                <a:solidFill>
                  <a:srgbClr val="18231E"/>
                </a:solidFill>
              </a:rPr>
              <a:t>• 外部公告显示北京视知觉曾获机构投资。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D8522-2097-484D-9492-20A97E40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C75D-DADF-4EB8-B5D4-21A7AF37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439"/>
                </a:solidFill>
              </a:defRPr>
            </a:pPr>
            <a:r>
              <a:rPr sz="1350" b="1">
                <a:solidFill>
                  <a:srgbClr val="A84439"/>
                </a:solidFill>
              </a:rPr>
              <a:t>缺失输入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43364-BD5C-4797-8A1D-4C3EDE8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1. 本轮 pre/post-money 与融资金额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E9117-0F3C-41FE-93AA-BBE16B96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2. cap table、清算优先权和关联交易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55E65-6964-4816-AEEC-D2D59CF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3. 现金、月度 burn、runway 和资金用途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B582B-34A4-48B1-BABD-2F034D87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4. 风险调整情景与退出路径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AB926-9837-4BD9-9174-5DE254A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41599-F4E5-471C-AC7C-FC7B7750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439"/>
                </a:solidFill>
              </a:defRPr>
            </a:pPr>
            <a:r>
              <a:rPr sz="1500" b="1">
                <a:solidFill>
                  <a:srgbClr val="A84439"/>
                </a:solidFill>
              </a:rPr>
              <a:t>缺失输入未补齐前，不输出伪精确估值或基金回报倍数。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959EF-44CD-4CE3-9819-AD27E18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P4、P19–P25；安徽公开报道；基金公告。审计时点 2026-07-23。</a:t>
            </a:r>
          </a:p>
        </p:txBody>
      </p:sp>
    </p:spTree>
    <p:extLst>
      <p:ext uri="{BB962C8B-B14F-4D97-AF65-F5344CB8AC3E}">
        <p14:creationId xmlns:p14="http://schemas.microsoft.com/office/powerpoint/2010/main" val="12250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BCD5A-A0C8-4973-BFD5-BB83FDCD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9DD20-B5BF-401E-B692-8373D0E4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270B6-F3A5-48F4-B929-F5A83F4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0AA7C-0747-4039-83CE-9C868FE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DF298-6448-427F-AA8C-51E216D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下一轮只验证五件事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DA257-CC2A-4D28-BF74-EE67823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材料到位后再更新结论，不用继续扩展叙事。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944B-9255-44E1-89F8-87B1A94E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D7FDE-153A-4A6D-9E01-A69B2D0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集团结构、历史沿革与融资主体股权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2F2B0-C350-4DF5-80CA-1B6D48C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60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5A4C6-F6D3-4DC0-BAC0-4B15F5DB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11AFF-9D76-4981-93E3-0134BE0C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逐产品注册证、注册人、型号和预期用途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AAFE8-85E3-4DF0-8514-8B6A5A99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22021-903E-4649-B52B-06AD987A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CDBC7-C7D0-454E-B362-8A23B609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IP 权利人、许可协议和关联交易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BA9D3-06E3-417C-94EE-F7C3967C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1B740-501A-45CF-8112-B92E8EAF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2C12A-1793-4BC2-B0B3-DD38D92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合同、验收、发票、回款、活跃与复购 cohort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25282-E25F-44EB-A9E4-0AB0BA0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2CDC2-4687-406B-8D17-3D312B2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0C7B2-AB2A-4083-959F-D6FCA292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算法外部验证、失败案例和上市后质量记录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5A6F0-3A7B-497F-85A5-3A2E0C5E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8B7A4-9C69-45F3-A865-B9D563D9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75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B4ECB-BB1F-46C3-AF4B-DE8B0113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决策门槛｜证照/IP/收入控制权清晰 + 核心算法外部验证 + 商业数据可回溯后，再进入估值讨论。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FED9D-F4A2-4F03-8B82-0EA227B7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P4、P19–P25；安徽公开报道；基金公告。审计时点 2026-07-23。</a:t>
            </a:r>
          </a:p>
        </p:txBody>
      </p:sp>
    </p:spTree>
    <p:extLst>
      <p:ext uri="{BB962C8B-B14F-4D97-AF65-F5344CB8AC3E}">
        <p14:creationId xmlns:p14="http://schemas.microsoft.com/office/powerpoint/2010/main" val="420325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2026-07-23T14:13:47.0530000Z</dcterms:created>
  <dcterms:modified xsi:type="dcterms:W3CDTF">2026-07-23T14:13:47.0530000Z</dcterms:modified>
</coreProperties>
</file>