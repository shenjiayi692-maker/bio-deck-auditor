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5a1578b6d4e4b" /><Relationship Type="http://schemas.openxmlformats.org/officeDocument/2006/relationships/extended-properties" Target="/docProps/app.xml" Id="R43eac5dcbc0946ec" /><Relationship Type="http://schemas.openxmlformats.org/officeDocument/2006/relationships/officeDocument" Target="/ppt/presentation.xml" Id="R4551fc192ca343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68387179941ab"/>
  </p:sldMasterIdLst>
  <p:notesMasterIdLst>
    <p:notesMasterId xmlns:r="http://schemas.openxmlformats.org/officeDocument/2006/relationships" r:id="R0cee5fdbbf544028"/>
  </p:notesMasterIdLst>
  <p:sldIdLst>
    <p:sldId xmlns:r="http://schemas.openxmlformats.org/officeDocument/2006/relationships" id="256" r:id="R50b13a464d244489"/>
    <p:sldId xmlns:r="http://schemas.openxmlformats.org/officeDocument/2006/relationships" id="257" r:id="R299a8059e51c4223"/>
    <p:sldId xmlns:r="http://schemas.openxmlformats.org/officeDocument/2006/relationships" id="258" r:id="R6a894f711d4048d6"/>
    <p:sldId xmlns:r="http://schemas.openxmlformats.org/officeDocument/2006/relationships" id="259" r:id="R005737362b4a46b7"/>
    <p:sldId xmlns:r="http://schemas.openxmlformats.org/officeDocument/2006/relationships" id="260" r:id="R87cff9b10ec846d8"/>
    <p:sldId xmlns:r="http://schemas.openxmlformats.org/officeDocument/2006/relationships" id="261" r:id="R7b55a23017f041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19b77e472948ea" /><Relationship Type="http://schemas.openxmlformats.org/officeDocument/2006/relationships/slideMaster" Target="/ppt/slideMasters/slideMaster1.xml" Id="R7fd68387179941ab" /><Relationship Type="http://schemas.openxmlformats.org/officeDocument/2006/relationships/notesMaster" Target="/ppt/notesMasters/notesMaster1.xml" Id="R0cee5fdbbf544028" /><Relationship Type="http://schemas.openxmlformats.org/officeDocument/2006/relationships/presProps" Target="/ppt/presProps.xml" Id="Rc665a0897d3f4c0b" /><Relationship Type="http://schemas.openxmlformats.org/officeDocument/2006/relationships/tableStyles" Target="/ppt/tableStyles.xml" Id="R6eca44137bd043ed" /><Relationship Type="http://schemas.openxmlformats.org/officeDocument/2006/relationships/slide" Target="/ppt/slides/slide1.xml" Id="R50b13a464d244489" /><Relationship Type="http://schemas.openxmlformats.org/officeDocument/2006/relationships/slide" Target="/ppt/slides/slide2.xml" Id="R299a8059e51c4223" /><Relationship Type="http://schemas.openxmlformats.org/officeDocument/2006/relationships/slide" Target="/ppt/slides/slide3.xml" Id="R6a894f711d4048d6" /><Relationship Type="http://schemas.openxmlformats.org/officeDocument/2006/relationships/slide" Target="/ppt/slides/slide4.xml" Id="R005737362b4a46b7" /><Relationship Type="http://schemas.openxmlformats.org/officeDocument/2006/relationships/slide" Target="/ppt/slides/slide5.xml" Id="R87cff9b10ec846d8" /><Relationship Type="http://schemas.openxmlformats.org/officeDocument/2006/relationships/slide" Target="/ppt/slides/slide6.xml" Id="R7b55a23017f041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8d44d200245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18dc9f76dc4916" /><Relationship Type="http://schemas.openxmlformats.org/officeDocument/2006/relationships/notesMaster" Target="/ppt/notesMasters/notesMaster1.xml" Id="Ra1cb451dca7c40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23ce466fb4add" /><Relationship Type="http://schemas.openxmlformats.org/officeDocument/2006/relationships/notesMaster" Target="/ppt/notesMasters/notesMaster1.xml" Id="R1b10781be803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636f1e21a4dd9" /><Relationship Type="http://schemas.openxmlformats.org/officeDocument/2006/relationships/notesMaster" Target="/ppt/notesMasters/notesMaster1.xml" Id="Rac7c7257a4a342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1f94e862b44c3" /><Relationship Type="http://schemas.openxmlformats.org/officeDocument/2006/relationships/notesMaster" Target="/ppt/notesMasters/notesMaster1.xml" Id="R8837d3e6483f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a6d705ecf466d" /><Relationship Type="http://schemas.openxmlformats.org/officeDocument/2006/relationships/notesMaster" Target="/ppt/notesMasters/notesMaster1.xml" Id="Re5411864714a4a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45aa3be4a445b" /><Relationship Type="http://schemas.openxmlformats.org/officeDocument/2006/relationships/notesMaster" Target="/ppt/notesMasters/notesMaster1.xml" Id="R095a9a5fa684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3226dd93b44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7125e7597f4a2f" /><Relationship Type="http://schemas.openxmlformats.org/officeDocument/2006/relationships/slideLayout" Target="/ppt/slideLayouts/slideLayout1.xml" Id="Rd66c24d0f67244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6c24d0f67244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6d90428ba4f8b" /><Relationship Type="http://schemas.openxmlformats.org/officeDocument/2006/relationships/notesSlide" Target="/ppt/notesSlides/notesSlide1.xml" Id="R17eb254fed2a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f6c6b85044a3c" /><Relationship Type="http://schemas.openxmlformats.org/officeDocument/2006/relationships/notesSlide" Target="/ppt/notesSlides/notesSlide2.xml" Id="R907bd82b1831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017596f6d414f" /><Relationship Type="http://schemas.openxmlformats.org/officeDocument/2006/relationships/notesSlide" Target="/ppt/notesSlides/notesSlide3.xml" Id="Re56198d45606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5f80baf0d4658" /><Relationship Type="http://schemas.openxmlformats.org/officeDocument/2006/relationships/notesSlide" Target="/ppt/notesSlides/notesSlide4.xml" Id="Ra3e6f5136a23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468cdad224ed1" /><Relationship Type="http://schemas.openxmlformats.org/officeDocument/2006/relationships/notesSlide" Target="/ppt/notesSlides/notesSlide5.xml" Id="R47b4243f7b2f43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85ccc6da049bd" /><Relationship Type="http://schemas.openxmlformats.org/officeDocument/2006/relationships/notesSlide" Target="/ppt/notesSlides/notesSlide6.xml" Id="R7ea99f686f344f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A8015-6818-469C-9896-0357B7B1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52E13-B390-461B-BFC7-18473F4B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543F"/>
                </a:solidFill>
              </a:defRPr>
            </a:pPr>
            <a:r>
              <a:rPr sz="2550" b="1">
                <a:solidFill>
                  <a:srgbClr val="07543F"/>
                </a:solidFill>
              </a:rPr>
              <a:t>BioLens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8F901-F3D2-47FA-8674-4DC8ED6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72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BIO / MEDTECH DECK 初筛报告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0F692-2C4D-4073-85E2-DE35F55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4273A-3A0F-4E64-8B27-C8812C5D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1E"/>
                </a:solidFill>
              </a:defRPr>
            </a:pPr>
            <a:r>
              <a:rPr sz="3600" b="1">
                <a:solidFill>
                  <a:srgbClr val="18231E"/>
                </a:solidFill>
              </a:rPr>
              <a:t>深圳柳叶刀机器人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04800-7102-44C8-9B4F-B239976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067"/>
                </a:solidFill>
              </a:defRPr>
            </a:pPr>
            <a:r>
              <a:rPr sz="1500">
                <a:solidFill>
                  <a:srgbClr val="607067"/>
                </a:solidFill>
              </a:rPr>
              <a:t>医疗器械 · 手术机器人</a:t>
            </a:r>
          </a:p>
        </p:txBody>
      </p:sp>
      <p:sp>
        <p:nvSpPr>
          <p:cNvPr id="7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9C5AC455-4F53-4B29-8CCB-DABEE68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63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F66BA-D392-4BBB-BBEB-893A79A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D6D08"/>
                </a:solidFill>
              </a:defRPr>
            </a:pPr>
            <a:r>
              <a:rPr sz="2400" b="1">
                <a:solidFill>
                  <a:srgbClr val="AD6D08"/>
                </a:solidFill>
              </a:rPr>
              <a:t>进入条件式尽调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87D04-9671-4E62-949C-BA0473E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监管资产真实，但主体归属、临床数字和收入预测版本必须先核清。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6A625-151C-419D-91C0-061CBE74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67"/>
                </a:solidFill>
              </a:defRPr>
            </a:pPr>
            <a:r>
              <a:rPr sz="975">
                <a:solidFill>
                  <a:srgbClr val="607067"/>
                </a:solidFill>
              </a:rPr>
              <a:t>审计时点 2026-07-23  ·  用途：投资初筛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C40B1-7104-4F44-B036-D41EE63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43F"/>
                </a:solidFill>
              </a:defRPr>
            </a:pPr>
            <a:r>
              <a:rPr sz="975" b="1">
                <a:solidFill>
                  <a:srgbClr val="07543F"/>
                </a:solidFill>
              </a:rPr>
              <a:t>材料陈述 ≠ 外部事实 ≠ 分析判断</a:t>
            </a:r>
          </a:p>
        </p:txBody>
      </p:sp>
    </p:spTree>
    <p:extLst>
      <p:ext uri="{BB962C8B-B14F-4D97-AF65-F5344CB8AC3E}">
        <p14:creationId xmlns:p14="http://schemas.microsoft.com/office/powerpoint/2010/main" val="992906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84CBE-D3F9-4441-905E-4B1AE5F5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1A445-0E45-48AE-A507-9756934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投资结论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D8E3F-091F-4656-BDDF-57C5984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82B1C-6C1A-46CB-B8EA-CCCD4063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A7398-ADA2-47B0-8D54-3D6DE15B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结论由三个关键事实决定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3B8C0-818A-456A-B5E5-08E4AAD9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监管资产真实，但主体归属、临床数字和收入预测版本必须先核清。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41F37-E29C-45D5-A8DE-D9F2BA95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3EC48-9318-4F9F-A7ED-A2E898AC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4946F-09EE-4D6F-9810-71C1AE0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监管锚点真实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61846-EB3A-46E2-A2E5-E38417E3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FDA K220774 与 NMPA 髋关节产品可外部核实。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D2D3A-5CD2-42CB-816A-43F14221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1885E-437F-4943-90AC-BD4F0A7B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71E21-D3FA-483F-9EFD-572D2CE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资产边界待穿透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65CC1-D02C-40D4-BD60-6516C6BE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深圳融资主体与杭州/浙江证照主体的关系未说明。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14C0F-07FF-4D44-9924-A6CD12BF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7254"/>
                </a:solidFill>
              </a:defRPr>
            </a:pPr>
            <a:r>
              <a:rPr sz="3750" b="1">
                <a:solidFill>
                  <a:srgbClr val="0B725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1BE9D-602F-4004-B626-72F7BE2E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BB16A-CC65-4287-BCC4-61ED59FB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E"/>
                </a:solidFill>
              </a:defRPr>
            </a:pPr>
            <a:r>
              <a:rPr sz="1725" b="1">
                <a:solidFill>
                  <a:srgbClr val="18231E"/>
                </a:solidFill>
              </a:rPr>
              <a:t>财务版本冲突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6070F-E4DD-4C14-8596-693ED3B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收入图可见标签与 PPT 底层缓存值相差明显。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D0C03-6001-4E45-A1F5-206C5817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543F"/>
                </a:solidFill>
              </a:defRPr>
            </a:pPr>
            <a:r>
              <a:rPr sz="1650" b="1">
                <a:solidFill>
                  <a:srgbClr val="07543F"/>
                </a:solidFill>
              </a:rPr>
              <a:t>因此，当前任务不是补充更多故事，而是验证决定投资结论的少数事实。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6317C-7361-4635-B4AF-726EBBBD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P4、P8、P14、P16、P18、P20；FDA K220774；NMPA 官方记录。</a:t>
            </a:r>
          </a:p>
        </p:txBody>
      </p:sp>
    </p:spTree>
    <p:extLst>
      <p:ext uri="{BB962C8B-B14F-4D97-AF65-F5344CB8AC3E}">
        <p14:creationId xmlns:p14="http://schemas.microsoft.com/office/powerpoint/2010/main" val="929462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C0495-1760-4E33-9240-569E9FDE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9C516-EBED-47D4-97AA-BBDAC1D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证据核验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21CD9-0179-49FF-8F7F-D58B4537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EDDA3-5093-4FE3-A052-40AD34A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2544A-FA23-45FE-B886-7E14F60F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关键宣称必须落到可复核证据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F8C49-978F-4016-BC8E-923067F9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只展示会改变投资判断的三项宣称。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9E2C3-520D-474E-A9A4-36CE44C6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宣称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D085E-485C-4973-82C8-2BB532F7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24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7D93B-E56B-4EE0-9920-7195EBFC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5AB9-0CFD-4756-8DC3-30A903DF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067"/>
                </a:solidFill>
              </a:defRPr>
            </a:pPr>
            <a:r>
              <a:rPr sz="975" b="1">
                <a:solidFill>
                  <a:srgbClr val="607067"/>
                </a:solidFill>
              </a:rPr>
              <a:t>投资含义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4C19C-EA28-431D-91E8-DAC1F1D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BB150-F2CD-4B52-BF7F-6DADCDFC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RobPath 髋关节应用取得 FDA 510(k)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88F7A-5FF2-403B-A469-BF14D7A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D8209-36BE-4A7F-976C-E4C7F99B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7254"/>
                </a:solidFill>
              </a:defRPr>
            </a:pPr>
            <a:r>
              <a:rPr sz="1125" b="1">
                <a:solidFill>
                  <a:srgbClr val="0B7254"/>
                </a:solidFill>
              </a:rPr>
              <a:t>已核实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C8883-E461-4BA9-B6CE-1D946399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K220774；申请人 Hangzhou Lancet Robotics；2022-12-09。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81536-E499-4B5D-8693-D4FEDD68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证明特定产品获批，不证明整个平台均获批。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8F8C7-EEA0-42E1-AAD8-61700C26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677BA-876E-433A-B426-6864B75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拥有 11 张 NMPA 三类证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D8A2D-AC40-45FD-A3DC-93525E62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A60EE-767D-4A67-BCF5-C4D90CE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19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5F9D"/>
                </a:solidFill>
              </a:defRPr>
            </a:pPr>
            <a:r>
              <a:rPr sz="1125" b="1">
                <a:solidFill>
                  <a:srgbClr val="2E5F9D"/>
                </a:solidFill>
              </a:rPr>
              <a:t>部分支持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2756B-016D-4C88-81FF-A136882F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髋关节系统可核实；可见清单未完整对应 11 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22B48-1C40-4F99-8BC4-C85A6ACB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43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需逐证核对注册人、产品和预期用途。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EAA19-0E08-45C5-BF8F-29F2FEA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1939E-0F84-47ED-A976-853403A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50+ 医院、3,000+ 例手术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EEEED-C8D1-49BD-937A-DA9A72F0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053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01782-62E5-4702-BF9C-1A43DCEA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D6D08"/>
                </a:solidFill>
              </a:defRPr>
            </a:pPr>
            <a:r>
              <a:rPr sz="1125" b="1">
                <a:solidFill>
                  <a:srgbClr val="AD6D08"/>
                </a:solidFill>
              </a:rPr>
              <a:t>需验证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09FD3-7C97-420B-B6E4-7B0B7B9B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“试用/装机”混用；另一页出现 30 台出货/装机。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093F4-DEBB-45F7-BE3D-1BDAC8E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31E"/>
                </a:solidFill>
              </a:defRPr>
            </a:pPr>
            <a:r>
              <a:rPr sz="1275" b="1">
                <a:solidFill>
                  <a:srgbClr val="18231E"/>
                </a:solidFill>
              </a:rPr>
              <a:t>需按设备 cohort 验证利用率和回款。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7DA8B-D9CF-4DF4-8C6C-D14EB1CE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P4、P8、P14、P16、P18、P20；FDA K220774；NMPA 官方记录。</a:t>
            </a:r>
          </a:p>
        </p:txBody>
      </p:sp>
    </p:spTree>
    <p:extLst>
      <p:ext uri="{BB962C8B-B14F-4D97-AF65-F5344CB8AC3E}">
        <p14:creationId xmlns:p14="http://schemas.microsoft.com/office/powerpoint/2010/main" val="1383850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2CD1C-D5F9-4756-A24F-30E2F776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67094-27CC-44E9-B2CC-9D7EB99F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市场与商业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3E1F0-C957-4751-8B31-52FBB4F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6D925-A398-492C-856D-4F08866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57674-6E80-4E29-9412-25839D6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已有装机和手术使用信号，但商业漏斗尚未建立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9E4A8-3830-4C2D-8A9A-5DB4F04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543F"/>
                </a:solidFill>
              </a:defRPr>
            </a:pPr>
            <a:r>
              <a:rPr sz="3600" b="1">
                <a:solidFill>
                  <a:srgbClr val="07543F"/>
                </a:solidFill>
              </a:rPr>
              <a:t>50+ 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5A550-397A-435A-B44D-1831A279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Deck：医院试用/装机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AE7BB-533F-47E8-8242-67712CF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67"/>
                </a:solidFill>
              </a:defRPr>
            </a:pPr>
            <a:r>
              <a:rPr sz="1200">
                <a:solidFill>
                  <a:srgbClr val="607067"/>
                </a:solidFill>
              </a:rPr>
              <a:t>未区分试用、合同、验收、付费和活跃。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F1076-948B-45D7-8C84-CA71A034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7543F"/>
                </a:solidFill>
              </a:defRPr>
            </a:pPr>
            <a:r>
              <a:rPr sz="3600" b="1">
                <a:solidFill>
                  <a:srgbClr val="07543F"/>
                </a:solidFill>
              </a:rPr>
              <a:t>3,000+ 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13C1C-799F-4C55-AA1C-A510B6C2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E"/>
                </a:solidFill>
              </a:defRPr>
            </a:pPr>
            <a:r>
              <a:rPr sz="1350" b="1">
                <a:solidFill>
                  <a:srgbClr val="18231E"/>
                </a:solidFill>
              </a:rPr>
              <a:t>Deck：累计手术量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63BDA-FBDD-4576-9AB6-5462EE6A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067"/>
                </a:solidFill>
              </a:defRPr>
            </a:pPr>
            <a:r>
              <a:rPr sz="1200">
                <a:solidFill>
                  <a:srgbClr val="607067"/>
                </a:solidFill>
              </a:rPr>
              <a:t>需逐医院、逐设备、逐术式和截止日期核验。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FA59B-A871-4041-B7C8-00ACE34D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DF5C3-5935-4955-946A-8D972B70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439"/>
                </a:solidFill>
              </a:defRPr>
            </a:pPr>
            <a:r>
              <a:rPr sz="1500" b="1">
                <a:solidFill>
                  <a:srgbClr val="A84439"/>
                </a:solidFill>
              </a:rPr>
              <a:t>当前风险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D4BA6-AB74-4367-BB40-4C44BFCC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7719A-F355-4EFF-86CD-3094E7C0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进入收费目录不等于公司已经形成支付和收入。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4177F-C15C-4F23-BD8B-6AA504D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E585C-E41D-4058-A6B9-3F22F9A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“100% 国产化”缺 BOM 金额和关键部件定义。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20A98-2AF8-4DCB-B8CD-B83259E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067"/>
                </a:solidFill>
              </a:defRPr>
            </a:pPr>
            <a:r>
              <a:rPr sz="1275">
                <a:solidFill>
                  <a:srgbClr val="607067"/>
                </a:solidFill>
              </a:rPr>
              <a:t>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847D2-2F59-4EAF-9D02-7546257D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814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1E"/>
                </a:solidFill>
              </a:defRPr>
            </a:pPr>
            <a:r>
              <a:rPr sz="1275">
                <a:solidFill>
                  <a:srgbClr val="18231E"/>
                </a:solidFill>
              </a:rPr>
              <a:t>跨科室平台使注册、临床验证与售后更复杂。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05D12-895C-4FD7-8AD7-DEB18AEE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B5CBB-2861-4877-A7BA-3BBA082F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33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43F"/>
                </a:solidFill>
              </a:defRPr>
            </a:pPr>
            <a:r>
              <a:rPr sz="1425" b="1">
                <a:solidFill>
                  <a:srgbClr val="07543F"/>
                </a:solidFill>
              </a:rPr>
              <a:t>判断原则：客户数量必须拆成试点、合同、验收、回款、活跃和续约；市场规模必须回到可服务产品边界。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AF6E4-3713-4FAB-80E4-8362703A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P4、P8、P14、P16、P18、P20；FDA K220774；NMPA 官方记录。</a:t>
            </a:r>
          </a:p>
        </p:txBody>
      </p:sp>
    </p:spTree>
    <p:extLst>
      <p:ext uri="{BB962C8B-B14F-4D97-AF65-F5344CB8AC3E}">
        <p14:creationId xmlns:p14="http://schemas.microsoft.com/office/powerpoint/2010/main" val="1773315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13532-D855-4D77-AD48-01C4E082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203E9-866B-49FB-A008-5B1E580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资本回报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DB682-FE03-451D-AF88-3379B92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F5FA9-D78E-4E9B-82BB-F2C1C626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D4408-D050-40FC-BF17-7961B296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15 亿元投前明确，但收入基准不可靠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82F60-386A-40E9-83C7-102C011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254"/>
                </a:solidFill>
              </a:defRPr>
            </a:pPr>
            <a:r>
              <a:rPr sz="1350" b="1">
                <a:solidFill>
                  <a:srgbClr val="0B7254"/>
                </a:solidFill>
              </a:rPr>
              <a:t>已知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7116C-192C-4B15-BA44-E3FDB7E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31E"/>
                </a:solidFill>
              </a:defRPr>
            </a:pPr>
            <a:r>
              <a:rPr sz="1425">
                <a:solidFill>
                  <a:srgbClr val="18231E"/>
                </a:solidFill>
              </a:rPr>
              <a:t>• Deck：B 轮拟融资 1 亿元，投前估值 15 亿元。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D2BC7-5B4E-4B09-BC1E-EBE3E229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31E"/>
                </a:solidFill>
              </a:defRPr>
            </a:pPr>
            <a:r>
              <a:rPr sz="1425">
                <a:solidFill>
                  <a:srgbClr val="18231E"/>
                </a:solidFill>
              </a:rPr>
              <a:t>• 可见预测 2030 年收入 5 亿元；图表缓存为 10 亿元。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DF073-DF3D-48A1-A9F4-01AFD3B5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09578-4EC0-4E44-9142-40FB0DA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439"/>
                </a:solidFill>
              </a:defRPr>
            </a:pPr>
            <a:r>
              <a:rPr sz="1350" b="1">
                <a:solidFill>
                  <a:srgbClr val="A84439"/>
                </a:solidFill>
              </a:rPr>
              <a:t>缺失输入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EC711-B096-492F-B815-3DF16A74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1. 唯一正式预算和董事会批准版本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6D777-2328-47E5-8F60-8DAA9B34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2. 历史融资、cap table 与优先权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7AF55-DCC0-48DA-B523-69A49A5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3. 逐台毛利、维护成本与耗材贡献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C3B24-BA8B-4A77-879A-A2F2CB2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31E"/>
                </a:solidFill>
              </a:defRPr>
            </a:pPr>
            <a:r>
              <a:rPr sz="1350">
                <a:solidFill>
                  <a:srgbClr val="18231E"/>
                </a:solidFill>
              </a:rPr>
              <a:t>4. 现金、burn、runway 和后续稀释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62734-AF24-4ADA-9248-FA1F00B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E9E6D-7AD5-4324-B275-B5026306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4439"/>
                </a:solidFill>
              </a:defRPr>
            </a:pPr>
            <a:r>
              <a:rPr sz="1500" b="1">
                <a:solidFill>
                  <a:srgbClr val="A84439"/>
                </a:solidFill>
              </a:rPr>
              <a:t>缺失输入未补齐前，不输出伪精确估值或基金回报倍数。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B97B4-EBC2-4702-A027-C66AB95A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P4、P8、P14、P16、P18、P20；FDA K220774；NMPA 官方记录。</a:t>
            </a:r>
          </a:p>
        </p:txBody>
      </p:sp>
    </p:spTree>
    <p:extLst>
      <p:ext uri="{BB962C8B-B14F-4D97-AF65-F5344CB8AC3E}">
        <p14:creationId xmlns:p14="http://schemas.microsoft.com/office/powerpoint/2010/main" val="2137285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3C6BE-6710-4829-B799-5895A11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254"/>
                </a:solidFill>
              </a:defRPr>
            </a:pPr>
            <a:r>
              <a:rPr sz="975" b="1">
                <a:solidFill>
                  <a:srgbClr val="0B7254"/>
                </a:solidFill>
              </a:rPr>
              <a:t>BioLens · 投资初筛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7CE65-47C3-4F4D-90F2-3B4F5B4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07067"/>
                </a:solidFill>
              </a:defRPr>
            </a:pPr>
            <a:r>
              <a:rPr sz="900">
                <a:solidFill>
                  <a:srgbClr val="607067"/>
                </a:solidFill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C1BE1-C8A8-4D6A-8535-C4540392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568E2-ACA2-4F4C-B56A-38474E84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B322-BC90-4116-A0B0-29E5BB5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31E"/>
                </a:solidFill>
              </a:defRPr>
            </a:pPr>
            <a:r>
              <a:rPr sz="2700" b="1">
                <a:solidFill>
                  <a:srgbClr val="18231E"/>
                </a:solidFill>
              </a:rPr>
              <a:t>下一轮只验证五件事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CB01E-9D1B-473E-BDD8-A333B34D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067"/>
                </a:solidFill>
              </a:defRPr>
            </a:pPr>
            <a:r>
              <a:rPr sz="1350">
                <a:solidFill>
                  <a:srgbClr val="607067"/>
                </a:solidFill>
              </a:rPr>
              <a:t>材料到位后再更新结论，不用继续扩展叙事。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016A6-22D6-470F-8CA7-8DA56443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6C1D-6D9B-4191-AE18-50E0172E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深圳、杭州、浙江主体的股权与资产关系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2DA75-55CA-4B61-A73A-247B6C8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60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85175-BB2A-4114-843F-35AF3DF4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49A61-2315-49AC-88F9-8AED8D14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11 张三类证及其他市场证书完整清单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3ED86-EFAD-43EA-A41C-B20D7417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D5D60-D1B6-42D1-80ED-941BE34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94B9E-E4E6-46E3-8132-AE5BFCA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临床研究原文、注册检验和人因验证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17882-D0BA-4018-896F-72EA03D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BFA9B-B48B-420D-9BA2-AF99571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A0766-4058-43E2-8594-500FCADA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逐台出货、验收、回款、手术量和停机率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8E1A9-CAB7-4841-AA7F-27C1F09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2C809-046E-455F-90C4-58C260A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7254"/>
                </a:solidFill>
              </a:defRPr>
            </a:pPr>
            <a:r>
              <a:rPr sz="1875" b="1">
                <a:solidFill>
                  <a:srgbClr val="0B7254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CBB99-9CD1-4EA8-9581-9C8F46CB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31E"/>
                </a:solidFill>
              </a:defRPr>
            </a:pPr>
            <a:r>
              <a:rPr sz="1425" b="1">
                <a:solidFill>
                  <a:srgbClr val="18231E"/>
                </a:solidFill>
              </a:rPr>
              <a:t>正式收入预算、BOM、产能、良率和资金用途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8D2EF-E82B-46AD-BCCF-31C427E6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BCEDE-DD5E-43DE-9922-5D465C3C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75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DFC60-FC18-4071-9C20-6CD7C2A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决策门槛｜资产控制权清晰 + 11 张证逐项核实 + 收入预测统一 + 装机/手术/回款 cohort 成立后，再判断 15 亿元估值。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ABC3F-CA86-43D1-98B3-43A7D11C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067"/>
                </a:solidFill>
              </a:defRPr>
            </a:pPr>
            <a:r>
              <a:rPr sz="750">
                <a:solidFill>
                  <a:srgbClr val="607067"/>
                </a:solidFill>
              </a:rPr>
              <a:t>来源：公司 Deck P4、P8、P14、P16、P18、P20；FDA K220774；NMPA 官方记录。</a:t>
            </a:r>
          </a:p>
        </p:txBody>
      </p:sp>
    </p:spTree>
    <p:extLst>
      <p:ext uri="{BB962C8B-B14F-4D97-AF65-F5344CB8AC3E}">
        <p14:creationId xmlns:p14="http://schemas.microsoft.com/office/powerpoint/2010/main" val="954404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2026-07-23T14:13:47.5660000Z</dcterms:created>
  <dcterms:modified xsi:type="dcterms:W3CDTF">2026-07-23T14:13:47.5660000Z</dcterms:modified>
</coreProperties>
</file>